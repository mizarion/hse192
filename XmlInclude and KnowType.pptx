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1"/>
  </p:notesMasterIdLst>
  <p:sldIdLst>
    <p:sldId id="256" r:id="rId2"/>
    <p:sldId id="258" r:id="rId3"/>
    <p:sldId id="261" r:id="rId4"/>
    <p:sldId id="262" r:id="rId5"/>
    <p:sldId id="263" r:id="rId6"/>
    <p:sldId id="264" r:id="rId7"/>
    <p:sldId id="266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DBBF"/>
    <a:srgbClr val="4D9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F83D24-C480-4FF9-8F03-CB6D46175218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4CA61-FA7C-4DB8-BBB0-0BDCFA78B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35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4CA61-FA7C-4DB8-BBB0-0BDCFA78B81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472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58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41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58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3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60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2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55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90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42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4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493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1389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045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484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66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741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90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08D1212-F2C0-4563-9DBB-8BC10B77A965}" type="datetimeFigureOut">
              <a:rPr lang="ru-RU" smtClean="0"/>
              <a:t>22.04.2020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7E8359-D59D-4BBD-9DAE-7CDB336675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322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ru-ru/dotnet/framework/wcf/feature-details/data-contract-known-types" TargetMode="External"/><Relationship Id="rId2" Type="http://schemas.openxmlformats.org/officeDocument/2006/relationships/hyperlink" Target="https://pastebin.com/kH0DR95v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ru-ru/dotnet/api/system.xml.serialization.xmlincludeattribute?view=netframework-4.8" TargetMode="External"/><Relationship Id="rId5" Type="http://schemas.openxmlformats.org/officeDocument/2006/relationships/hyperlink" Target="https://docs.microsoft.com/ru-ru/dotnet/framework/wcf/feature-details/data-contract-versioning" TargetMode="External"/><Relationship Id="rId4" Type="http://schemas.openxmlformats.org/officeDocument/2006/relationships/hyperlink" Target="https://docs.microsoft.com/ru-ru/dotnet/framework/wcf/feature-details/data-contract-equival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8B4A9-AC53-4A56-A3BE-BFC5E5837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6" y="802431"/>
            <a:ext cx="11713028" cy="1779038"/>
          </a:xfrm>
        </p:spPr>
        <p:txBody>
          <a:bodyPr>
            <a:normAutofit/>
          </a:bodyPr>
          <a:lstStyle/>
          <a:p>
            <a:r>
              <a:rPr lang="ru-RU" sz="5500" dirty="0">
                <a:latin typeface="Calibri" panose="020F0502020204030204" pitchFamily="34" charset="0"/>
                <a:cs typeface="Calibri" panose="020F0502020204030204" pitchFamily="34" charset="0"/>
              </a:rPr>
              <a:t>Использование</a:t>
            </a:r>
            <a:br>
              <a:rPr lang="ru-RU" sz="5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4000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XmlInclude</a:t>
            </a: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4000" dirty="0">
                <a:solidFill>
                  <a:srgbClr val="4D95D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typeof</a:t>
            </a: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4000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4000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KnownType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4000" dirty="0">
                <a:solidFill>
                  <a:srgbClr val="4D95D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typeof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4000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))]</a:t>
            </a:r>
            <a:endParaRPr lang="ru-R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106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AB55E-556C-44CC-85ED-7F53CCBC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22" y="223935"/>
            <a:ext cx="11526417" cy="1548881"/>
          </a:xfrm>
        </p:spPr>
        <p:txBody>
          <a:bodyPr>
            <a:normAutofit/>
          </a:bodyPr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Случаи когда нужны </a:t>
            </a:r>
            <a:b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KnownType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4D95D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typeof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))]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XmlInclude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4D95D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typeof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54DBB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8624DF-50A5-45B3-BD6C-766E2F0D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122" y="1903445"/>
            <a:ext cx="11526417" cy="4304522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Контракт отправляемых данных унаследован из контракта ожидаемых данных. В этом случае контракт передаваемых данных отличается от контракта данных, ожидаемого принимающей конечной точкой; </a:t>
            </a:r>
            <a:r>
              <a:rPr lang="ru-RU" sz="1800" i="1" dirty="0">
                <a:effectLst/>
              </a:rPr>
              <a:t>(Т.е. ждут базовый класс, а вместо него отправляют производный.)</a:t>
            </a:r>
          </a:p>
          <a:p>
            <a:r>
              <a:rPr lang="ru-RU" strike="sngStrike" dirty="0">
                <a:solidFill>
                  <a:schemeClr val="tx1"/>
                </a:solidFill>
                <a:effectLst/>
              </a:rPr>
              <a:t>Объявленный тип передаваемых данных является интерфейсом, а не классом, структурой или перечислением. Поэтому невозможно заранее знать, какой именно из реализуемых этим интерфейсом типов будет передан, а следовательно принимающая конечная точка не может заранее определить контракт передаваемых данных;</a:t>
            </a:r>
          </a:p>
          <a:p>
            <a:r>
              <a:rPr lang="ru-RU" dirty="0">
                <a:solidFill>
                  <a:schemeClr val="tx1"/>
                </a:solidFill>
                <a:effectLst/>
              </a:rPr>
              <a:t>Объявлен тип передаваемых данных Object. Поскольку каждый тип наследуется от класса Object, то невозможно заранее знать, какой именно тип будет передан, а следовательно принимающая конечная точка не может заранее определить контракт передаваемых данных. </a:t>
            </a:r>
            <a:r>
              <a:rPr lang="ru-RU" i="1" dirty="0">
                <a:solidFill>
                  <a:schemeClr val="tx1"/>
                </a:solidFill>
                <a:effectLst/>
              </a:rPr>
              <a:t>Это особый случай первой *.</a:t>
            </a:r>
            <a:r>
              <a:rPr lang="ru-RU" dirty="0">
                <a:effectLst/>
              </a:rPr>
              <a:t>  </a:t>
            </a:r>
            <a:r>
              <a:rPr lang="ru-RU" sz="1800" i="1" dirty="0">
                <a:effectLst/>
              </a:rPr>
              <a:t>(Т.е. нужно сообщить какие типы может принимать </a:t>
            </a:r>
            <a:r>
              <a:rPr lang="en-US" sz="1800" i="1" dirty="0">
                <a:effectLst/>
              </a:rPr>
              <a:t>object</a:t>
            </a:r>
            <a:r>
              <a:rPr lang="ru-RU" sz="1800" i="1" dirty="0">
                <a:effectLst/>
              </a:rPr>
              <a:t>)</a:t>
            </a:r>
          </a:p>
          <a:p>
            <a:r>
              <a:rPr lang="ru-RU" dirty="0">
                <a:solidFill>
                  <a:schemeClr val="tx1"/>
                </a:solidFill>
                <a:effectLst/>
              </a:rPr>
              <a:t>Используемые типы не примитивы</a:t>
            </a:r>
            <a:r>
              <a:rPr lang="ru-RU" dirty="0">
                <a:effectLst/>
              </a:rPr>
              <a:t> </a:t>
            </a:r>
            <a:r>
              <a:rPr lang="ru-RU" sz="1800" i="1" dirty="0">
                <a:effectLst/>
              </a:rPr>
              <a:t>( к примеру массивы или собственные типы)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03370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2F592-1E21-4808-8FC9-794D5117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16768"/>
            <a:ext cx="10353762" cy="1082350"/>
          </a:xfrm>
        </p:spPr>
        <p:txBody>
          <a:bodyPr>
            <a:normAutofit/>
          </a:bodyPr>
          <a:lstStyle/>
          <a:p>
            <a:r>
              <a:rPr lang="ru-RU" sz="5500" dirty="0"/>
              <a:t>Важные детали</a:t>
            </a:r>
            <a:r>
              <a:rPr lang="en-US" sz="5500" dirty="0"/>
              <a:t>:</a:t>
            </a:r>
            <a:endParaRPr lang="ru-RU" sz="55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FF47D-E48D-4D34-80A9-2AD34FB2B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94" y="2680996"/>
            <a:ext cx="11800114" cy="371358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Использованный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tx1"/>
                </a:solidFill>
              </a:rPr>
              <a:t>в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tx1"/>
                </a:solidFill>
              </a:rPr>
              <a:t>родителе</a:t>
            </a:r>
            <a:r>
              <a:rPr lang="ru-RU" sz="2400" dirty="0"/>
              <a:t>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54DBBF"/>
                </a:solidFill>
              </a:rPr>
              <a:t>KnownType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4D95DA"/>
                </a:solidFill>
              </a:rPr>
              <a:t>typeof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54DBBF"/>
                </a:solidFill>
              </a:rPr>
              <a:t>Type</a:t>
            </a:r>
            <a:r>
              <a:rPr lang="en-US" sz="2400" dirty="0"/>
              <a:t>))]</a:t>
            </a:r>
            <a:r>
              <a:rPr lang="ru-RU" sz="2400" dirty="0"/>
              <a:t> или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54DBBF"/>
                </a:solidFill>
              </a:rPr>
              <a:t>XmlInclude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4D95DA"/>
                </a:solidFill>
              </a:rPr>
              <a:t>typeof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54DBBF"/>
                </a:solidFill>
              </a:rPr>
              <a:t>Type</a:t>
            </a:r>
            <a:r>
              <a:rPr lang="en-US" sz="2400" dirty="0"/>
              <a:t>))]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tx1"/>
                </a:solidFill>
              </a:rPr>
              <a:t>применяется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tx1"/>
                </a:solidFill>
              </a:rPr>
              <a:t>и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tx1"/>
                </a:solidFill>
              </a:rPr>
              <a:t>для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tx1"/>
                </a:solidFill>
              </a:rPr>
              <a:t>наследников</a:t>
            </a:r>
            <a:r>
              <a:rPr lang="ru-RU" sz="2400" dirty="0"/>
              <a:t>.</a:t>
            </a:r>
            <a:r>
              <a:rPr lang="ru-RU" i="1" dirty="0"/>
              <a:t> (т.е. наследуется)</a:t>
            </a:r>
            <a:r>
              <a:rPr lang="ru-RU" sz="2400" dirty="0"/>
              <a:t> </a:t>
            </a:r>
            <a:endParaRPr lang="en-US" sz="2400" dirty="0"/>
          </a:p>
          <a:p>
            <a:r>
              <a:rPr lang="ru-RU" sz="2400" dirty="0">
                <a:solidFill>
                  <a:schemeClr val="tx1"/>
                </a:solidFill>
              </a:rPr>
              <a:t>Не требуется использование атрибутов для</a:t>
            </a:r>
            <a:r>
              <a:rPr lang="ru-RU" sz="2400" dirty="0"/>
              <a:t> </a:t>
            </a:r>
            <a:r>
              <a:rPr lang="en-US" sz="2400" dirty="0" err="1">
                <a:solidFill>
                  <a:srgbClr val="54DBBF"/>
                </a:solidFill>
              </a:rPr>
              <a:t>DataContractJsonSerializer</a:t>
            </a:r>
            <a:r>
              <a:rPr lang="ru-RU" sz="2400" dirty="0">
                <a:solidFill>
                  <a:srgbClr val="54DBBF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и</a:t>
            </a:r>
            <a:r>
              <a:rPr lang="ru-RU" sz="2400" dirty="0">
                <a:solidFill>
                  <a:srgbClr val="54DBBF"/>
                </a:solidFill>
              </a:rPr>
              <a:t> </a:t>
            </a:r>
            <a:r>
              <a:rPr lang="en-US" sz="2400" dirty="0" err="1">
                <a:solidFill>
                  <a:srgbClr val="54DBBF"/>
                </a:solidFill>
              </a:rPr>
              <a:t>XmlSerializer</a:t>
            </a:r>
            <a:r>
              <a:rPr lang="en-US" sz="2400" dirty="0">
                <a:solidFill>
                  <a:srgbClr val="54DBBF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если, стоит модификатор доступа </a:t>
            </a:r>
            <a:r>
              <a:rPr lang="en-US" sz="2400" dirty="0">
                <a:solidFill>
                  <a:srgbClr val="4D95DA"/>
                </a:solidFill>
                <a:effectLst/>
              </a:rPr>
              <a:t>public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rgbClr val="54DBBF"/>
                </a:solidFill>
              </a:rPr>
              <a:t>XmlSerializer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работает с </a:t>
            </a:r>
            <a:r>
              <a:rPr lang="en-US" sz="2400" dirty="0">
                <a:solidFill>
                  <a:srgbClr val="4D95DA"/>
                </a:solidFill>
              </a:rPr>
              <a:t>object</a:t>
            </a:r>
            <a:r>
              <a:rPr lang="ru-RU" sz="2400" dirty="0">
                <a:solidFill>
                  <a:schemeClr val="tx1"/>
                </a:solidFill>
              </a:rPr>
              <a:t> лучше, чем </a:t>
            </a:r>
            <a:r>
              <a:rPr lang="en-US" sz="2400" dirty="0" err="1">
                <a:solidFill>
                  <a:srgbClr val="54DBBF"/>
                </a:solidFill>
              </a:rPr>
              <a:t>DataContractJsonSerializer</a:t>
            </a:r>
            <a:endParaRPr lang="en-US" sz="2400" dirty="0">
              <a:solidFill>
                <a:srgbClr val="54DB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17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8E440-3E1C-4AF0-A0B8-D538C45C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3" y="84253"/>
            <a:ext cx="6207832" cy="1091404"/>
          </a:xfrm>
        </p:spPr>
        <p:txBody>
          <a:bodyPr>
            <a:noAutofit/>
          </a:bodyPr>
          <a:lstStyle/>
          <a:p>
            <a:r>
              <a:rPr lang="ru-RU" sz="3500" dirty="0" err="1"/>
              <a:t>Сериализация</a:t>
            </a:r>
            <a:r>
              <a:rPr lang="en-US" sz="3500" dirty="0"/>
              <a:t> </a:t>
            </a:r>
            <a:r>
              <a:rPr lang="ru-RU" sz="3500" dirty="0"/>
              <a:t>наследников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E0E2C6-8EF2-48AD-AB0E-75D28CE03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8333B1-E1A3-4F6E-9D6C-FC7AC8974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9" y="1335555"/>
            <a:ext cx="5019868" cy="54381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74935F-3198-43B2-BF8A-6446C28EF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918" y="0"/>
            <a:ext cx="5967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41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B4B91-32F7-4898-9700-DE7D13C6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00" y="194617"/>
            <a:ext cx="4485216" cy="2149610"/>
          </a:xfrm>
        </p:spPr>
        <p:txBody>
          <a:bodyPr anchor="b">
            <a:noAutofit/>
          </a:bodyPr>
          <a:lstStyle/>
          <a:p>
            <a:r>
              <a:rPr lang="ru-RU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/>
              </a:rPr>
              <a:t>Приведение производных типов к базовому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94A75-02C3-4A80-9717-E1BD5343E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81299"/>
            <a:ext cx="3078749" cy="4482084"/>
          </a:xfrm>
        </p:spPr>
        <p:txBody>
          <a:bodyPr anchor="t">
            <a:normAutofit/>
          </a:bodyPr>
          <a:lstStyle/>
          <a:p>
            <a:endParaRPr lang="ru-RU" sz="16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B820AF-7E94-40C6-BDCF-792AA9FD3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216" y="91751"/>
            <a:ext cx="6245290" cy="667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61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0065C-DBA9-477C-B6A9-D89562C2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82" y="498126"/>
            <a:ext cx="4569402" cy="1863884"/>
          </a:xfrm>
        </p:spPr>
        <p:txBody>
          <a:bodyPr/>
          <a:lstStyle/>
          <a:p>
            <a:r>
              <a:rPr lang="ru-RU" dirty="0">
                <a:effectLst/>
              </a:rPr>
              <a:t>Наследование атрибутов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43A05D-B6E2-4CC6-83E7-146E5DDA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909388" cy="68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7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24B1C-F581-416C-9425-4D415C22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3078749" cy="1020147"/>
          </a:xfrm>
        </p:spPr>
        <p:txBody>
          <a:bodyPr anchor="b">
            <a:normAutofit/>
          </a:bodyPr>
          <a:lstStyle/>
          <a:p>
            <a:r>
              <a:rPr lang="en-US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/>
              </a:rPr>
              <a:t>int</a:t>
            </a:r>
            <a:r>
              <a:rPr lang="ru-RU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/>
              </a:rPr>
              <a:t> в </a:t>
            </a:r>
            <a:r>
              <a:rPr lang="en-US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/>
              </a:rPr>
              <a:t>object</a:t>
            </a:r>
            <a:endParaRPr lang="ru-RU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effectLst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6F9919-3A77-44C2-8D6B-5E442F1A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078749" cy="4482084"/>
          </a:xfrm>
        </p:spPr>
        <p:txBody>
          <a:bodyPr anchor="t">
            <a:normAutofit/>
          </a:bodyPr>
          <a:lstStyle/>
          <a:p>
            <a:endParaRPr lang="ru-RU" sz="160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A0F852-BD67-4934-BB87-1DDEB10E0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843" y="129352"/>
            <a:ext cx="7499555" cy="659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6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C5EC21-7BFE-48DB-B3D3-BA425ECD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085802" cy="1094792"/>
          </a:xfrm>
        </p:spPr>
        <p:txBody>
          <a:bodyPr>
            <a:normAutofit/>
          </a:bodyPr>
          <a:lstStyle/>
          <a:p>
            <a:r>
              <a:rPr lang="en-US" dirty="0"/>
              <a:t>int[]</a:t>
            </a:r>
            <a:r>
              <a:rPr lang="ru-RU" dirty="0"/>
              <a:t> в </a:t>
            </a:r>
            <a:r>
              <a:rPr lang="en-US" dirty="0"/>
              <a:t>object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B3CFC89-7A71-45E2-A4C6-CA5285372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5077" y="73837"/>
            <a:ext cx="6606924" cy="672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2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09F97-1DC7-4AF1-80A1-0C7A5EF7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50776"/>
          </a:xfrm>
        </p:spPr>
        <p:txBody>
          <a:bodyPr>
            <a:normAutofit/>
          </a:bodyPr>
          <a:lstStyle/>
          <a:p>
            <a:r>
              <a:rPr lang="ru-RU" sz="5000" dirty="0"/>
              <a:t>Полезные ссылки</a:t>
            </a:r>
            <a:r>
              <a:rPr lang="en-US" sz="5000" dirty="0"/>
              <a:t>:</a:t>
            </a:r>
            <a:endParaRPr lang="ru-RU" sz="5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119294-DE5B-4A57-9DC6-3258B267D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24" y="2394857"/>
            <a:ext cx="10929257" cy="3396343"/>
          </a:xfrm>
        </p:spPr>
        <p:txBody>
          <a:bodyPr>
            <a:normAutofit/>
          </a:bodyPr>
          <a:lstStyle/>
          <a:p>
            <a:r>
              <a:rPr lang="ru-RU" sz="1600" dirty="0" err="1"/>
              <a:t>Демка</a:t>
            </a:r>
            <a:r>
              <a:rPr lang="en-US" sz="1600" dirty="0"/>
              <a:t>:</a:t>
            </a:r>
            <a:r>
              <a:rPr lang="ru-RU" sz="1600" dirty="0"/>
              <a:t> </a:t>
            </a:r>
            <a:r>
              <a:rPr lang="en-US" sz="1600" dirty="0">
                <a:hlinkClick r:id="rId2"/>
              </a:rPr>
              <a:t>https://pastebin.com/kH0DR95v</a:t>
            </a:r>
            <a:endParaRPr lang="ru-RU" sz="1600" dirty="0"/>
          </a:p>
          <a:p>
            <a:r>
              <a:rPr lang="en-US" sz="1600" dirty="0">
                <a:hlinkClick r:id="rId3"/>
              </a:rPr>
              <a:t>https://docs.microsoft.com/ru-ru/dotnet/framework/wcf/feature-details/data-contract-known-types</a:t>
            </a:r>
            <a:endParaRPr lang="ru-RU" sz="1600" dirty="0"/>
          </a:p>
          <a:p>
            <a:r>
              <a:rPr lang="en-US" sz="1600" dirty="0">
                <a:hlinkClick r:id="rId4"/>
              </a:rPr>
              <a:t>https://docs.microsoft.com/ru-ru/dotnet/framework/wcf/feature-details/data-contract-equivalence</a:t>
            </a:r>
            <a:endParaRPr lang="ru-RU" sz="1600" dirty="0"/>
          </a:p>
          <a:p>
            <a:r>
              <a:rPr lang="en-US" sz="1600" dirty="0">
                <a:hlinkClick r:id="rId5"/>
              </a:rPr>
              <a:t>https://docs.microsoft.com/ru-ru/dotnet/framework/wcf/feature-details/data-contract-versioning</a:t>
            </a:r>
            <a:endParaRPr lang="en-US" sz="1600" dirty="0"/>
          </a:p>
          <a:p>
            <a:r>
              <a:rPr lang="en-US" sz="1600" dirty="0">
                <a:hlinkClick r:id="rId6"/>
              </a:rPr>
              <a:t>https://docs.microsoft.com/ru-ru/dotnet/api/system.xml.serialization.xmlincludeattribute?view=netframework-4.8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180854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351</Words>
  <Application>Microsoft Office PowerPoint</Application>
  <PresentationFormat>Широкоэкранный</PresentationFormat>
  <Paragraphs>22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Calibri</vt:lpstr>
      <vt:lpstr>Calisto MT</vt:lpstr>
      <vt:lpstr>Wingdings 2</vt:lpstr>
      <vt:lpstr>Сланец</vt:lpstr>
      <vt:lpstr>Использование [XmlInclude(typeof(Type))] [KnownType(typeof(Type))]</vt:lpstr>
      <vt:lpstr>Случаи когда нужны  [KnownType(typeof(Type))] [XmlInclude(typeof(Type))]</vt:lpstr>
      <vt:lpstr>Важные детали:</vt:lpstr>
      <vt:lpstr>Сериализация наследников</vt:lpstr>
      <vt:lpstr>Приведение производных типов к базовому</vt:lpstr>
      <vt:lpstr>Наследование атрибутов</vt:lpstr>
      <vt:lpstr>int в object</vt:lpstr>
      <vt:lpstr>int[] в object</vt:lpstr>
      <vt:lpstr>Полезные ссылки: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[XmlInclude(typeof(Type))] [KnownType(typeof(Type))]</dc:title>
  <dc:creator>mizarion99@gmail.com</dc:creator>
  <cp:lastModifiedBy>mizarion99@gmail.com</cp:lastModifiedBy>
  <cp:revision>14</cp:revision>
  <dcterms:created xsi:type="dcterms:W3CDTF">2020-04-20T08:21:30Z</dcterms:created>
  <dcterms:modified xsi:type="dcterms:W3CDTF">2020-04-22T11:25:57Z</dcterms:modified>
</cp:coreProperties>
</file>